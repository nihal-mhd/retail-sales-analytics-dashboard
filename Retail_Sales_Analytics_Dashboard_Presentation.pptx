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IN Next" charset="1" panose="020B0503020203050203"/>
      <p:regular r:id="rId18"/>
    </p:embeddedFont>
    <p:embeddedFont>
      <p:font typeface="Telegraf" charset="1" panose="00000500000000000000"/>
      <p:regular r:id="rId19"/>
    </p:embeddedFont>
    <p:embeddedFont>
      <p:font typeface="DIN Next Bold" charset="1" panose="020B08030202030502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73000" y="2762250"/>
            <a:ext cx="4762500" cy="4762500"/>
          </a:xfrm>
          <a:custGeom>
            <a:avLst/>
            <a:gdLst/>
            <a:ahLst/>
            <a:cxnLst/>
            <a:rect r="r" b="b" t="t" l="l"/>
            <a:pathLst>
              <a:path h="4762500" w="4762500">
                <a:moveTo>
                  <a:pt x="0" y="0"/>
                </a:moveTo>
                <a:lnTo>
                  <a:pt x="4762500" y="0"/>
                </a:lnTo>
                <a:lnTo>
                  <a:pt x="4762500" y="4762500"/>
                </a:ln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3000" y="3238500"/>
            <a:ext cx="57150" cy="3810000"/>
            <a:chOff x="0" y="0"/>
            <a:chExt cx="76200" cy="508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5080000"/>
                  </a:lnTo>
                  <a:lnTo>
                    <a:pt x="0" y="50800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" cy="511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24000" y="3314700"/>
            <a:ext cx="114300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39"/>
              </a:lnSpc>
              <a:spcBef>
                <a:spcPct val="0"/>
              </a:spcBef>
            </a:pPr>
            <a:r>
              <a:rPr lang="en-US" sz="5199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Retail Sales Analytics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4000" y="4124325"/>
            <a:ext cx="7620000" cy="40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E3A8A"/>
                </a:solidFill>
                <a:latin typeface="Telegraf"/>
                <a:ea typeface="Telegraf"/>
                <a:cs typeface="Telegraf"/>
                <a:sym typeface="Telegraf"/>
              </a:rPr>
              <a:t>Data Analytics Internship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4000" y="4972050"/>
            <a:ext cx="66675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374151"/>
                </a:solidFill>
                <a:latin typeface="DIN Next Bold"/>
                <a:ea typeface="DIN Next Bold"/>
                <a:cs typeface="DIN Next Bold"/>
                <a:sym typeface="DIN Next Bold"/>
              </a:rPr>
              <a:t>Presented By:</a:t>
            </a:r>
            <a:r>
              <a:rPr lang="en-US" sz="2000" strike="noStrike" u="none">
                <a:solidFill>
                  <a:srgbClr val="374151"/>
                </a:solidFill>
                <a:latin typeface="DIN Next"/>
                <a:ea typeface="DIN Next"/>
                <a:cs typeface="DIN Next"/>
                <a:sym typeface="DIN Next"/>
              </a:rPr>
              <a:t>  Nihal Muhammed 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5381625"/>
            <a:ext cx="6667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B7280"/>
                </a:solidFill>
                <a:latin typeface="DIN Next Bold"/>
                <a:ea typeface="DIN Next Bold"/>
                <a:cs typeface="DIN Next Bold"/>
                <a:sym typeface="DIN Next Bold"/>
              </a:rPr>
              <a:t>Role:</a:t>
            </a:r>
            <a:r>
              <a:rPr lang="en-US" sz="1800" strike="noStrike" u="none">
                <a:solidFill>
                  <a:srgbClr val="6B7280"/>
                </a:solidFill>
                <a:latin typeface="DIN Next"/>
                <a:ea typeface="DIN Next"/>
                <a:cs typeface="DIN Next"/>
                <a:sym typeface="DIN Next"/>
              </a:rPr>
              <a:t>  Junior Data Analyst Intern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4000" y="5724525"/>
            <a:ext cx="6667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B7280"/>
                </a:solidFill>
                <a:latin typeface="DIN Next Bold"/>
                <a:ea typeface="DIN Next Bold"/>
                <a:cs typeface="DIN Next Bold"/>
                <a:sym typeface="DIN Next Bold"/>
              </a:rPr>
              <a:t>Organization:</a:t>
            </a:r>
            <a:r>
              <a:rPr lang="en-US" sz="1800" strike="noStrike" u="none">
                <a:solidFill>
                  <a:srgbClr val="6B7280"/>
                </a:solidFill>
                <a:latin typeface="DIN Next"/>
                <a:ea typeface="DIN Next"/>
                <a:cs typeface="DIN Next"/>
                <a:sym typeface="DIN Next"/>
              </a:rPr>
              <a:t>  ProDevInfo Solutions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4000" y="6067425"/>
            <a:ext cx="6667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B7280"/>
                </a:solidFill>
                <a:latin typeface="DIN Next Bold"/>
                <a:ea typeface="DIN Next Bold"/>
                <a:cs typeface="DIN Next Bold"/>
                <a:sym typeface="DIN Next Bold"/>
              </a:rPr>
              <a:t>Mentor:</a:t>
            </a:r>
            <a:r>
              <a:rPr lang="en-US" sz="1800" strike="noStrike" u="none">
                <a:solidFill>
                  <a:srgbClr val="6B7280"/>
                </a:solidFill>
                <a:latin typeface="DIN Next"/>
                <a:ea typeface="DIN Next"/>
                <a:cs typeface="DIN Next"/>
                <a:sym typeface="DIN Next"/>
              </a:rPr>
              <a:t>  Abdul Vahab 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762000"/>
            <a:ext cx="57150" cy="571500"/>
            <a:chOff x="0" y="0"/>
            <a:chExt cx="762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600075"/>
            <a:ext cx="7620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Project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1600200"/>
            <a:ext cx="8572500" cy="121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This project analyzes retail sales data from 2021–2024 to identify business trends, calculate KPIs, and build an interactive dashboard for decision-making.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4000" y="2943225"/>
            <a:ext cx="3810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Tools Used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24000" y="3619500"/>
            <a:ext cx="2476500" cy="666750"/>
            <a:chOff x="0" y="0"/>
            <a:chExt cx="3302000" cy="88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0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302000">
                  <a:moveTo>
                    <a:pt x="88900" y="0"/>
                  </a:moveTo>
                  <a:lnTo>
                    <a:pt x="3213100" y="0"/>
                  </a:lnTo>
                  <a:cubicBezTo>
                    <a:pt x="3262198" y="0"/>
                    <a:pt x="3302000" y="39802"/>
                    <a:pt x="3302000" y="88900"/>
                  </a:cubicBezTo>
                  <a:lnTo>
                    <a:pt x="3302000" y="800100"/>
                  </a:lnTo>
                  <a:cubicBezTo>
                    <a:pt x="3302000" y="849198"/>
                    <a:pt x="3262198" y="889000"/>
                    <a:pt x="321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33020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Python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286250" y="3619500"/>
            <a:ext cx="2476500" cy="666750"/>
            <a:chOff x="0" y="0"/>
            <a:chExt cx="3302000" cy="889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0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302000">
                  <a:moveTo>
                    <a:pt x="88900" y="0"/>
                  </a:moveTo>
                  <a:lnTo>
                    <a:pt x="3213100" y="0"/>
                  </a:lnTo>
                  <a:cubicBezTo>
                    <a:pt x="3262198" y="0"/>
                    <a:pt x="3302000" y="39802"/>
                    <a:pt x="3302000" y="88900"/>
                  </a:cubicBezTo>
                  <a:lnTo>
                    <a:pt x="3302000" y="800100"/>
                  </a:lnTo>
                  <a:cubicBezTo>
                    <a:pt x="3302000" y="849198"/>
                    <a:pt x="3262198" y="889000"/>
                    <a:pt x="321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33020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Pandas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48500" y="3619500"/>
            <a:ext cx="2476500" cy="666750"/>
            <a:chOff x="0" y="0"/>
            <a:chExt cx="3302000" cy="889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0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302000">
                  <a:moveTo>
                    <a:pt x="88900" y="0"/>
                  </a:moveTo>
                  <a:lnTo>
                    <a:pt x="3213100" y="0"/>
                  </a:lnTo>
                  <a:cubicBezTo>
                    <a:pt x="3262198" y="0"/>
                    <a:pt x="3302000" y="39802"/>
                    <a:pt x="3302000" y="88900"/>
                  </a:cubicBezTo>
                  <a:lnTo>
                    <a:pt x="3302000" y="800100"/>
                  </a:lnTo>
                  <a:cubicBezTo>
                    <a:pt x="3302000" y="849198"/>
                    <a:pt x="3262198" y="889000"/>
                    <a:pt x="321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33020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NumPy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24000" y="4476750"/>
            <a:ext cx="2476500" cy="666750"/>
            <a:chOff x="0" y="0"/>
            <a:chExt cx="3302000" cy="889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0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302000">
                  <a:moveTo>
                    <a:pt x="88900" y="0"/>
                  </a:moveTo>
                  <a:lnTo>
                    <a:pt x="3213100" y="0"/>
                  </a:lnTo>
                  <a:cubicBezTo>
                    <a:pt x="3262198" y="0"/>
                    <a:pt x="3302000" y="39802"/>
                    <a:pt x="3302000" y="88900"/>
                  </a:cubicBezTo>
                  <a:lnTo>
                    <a:pt x="3302000" y="800100"/>
                  </a:lnTo>
                  <a:cubicBezTo>
                    <a:pt x="3302000" y="849198"/>
                    <a:pt x="3262198" y="889000"/>
                    <a:pt x="321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33020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Plotly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286250" y="4476750"/>
            <a:ext cx="2476500" cy="666750"/>
            <a:chOff x="0" y="0"/>
            <a:chExt cx="3302000" cy="889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0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302000">
                  <a:moveTo>
                    <a:pt x="88900" y="0"/>
                  </a:moveTo>
                  <a:lnTo>
                    <a:pt x="3213100" y="0"/>
                  </a:lnTo>
                  <a:cubicBezTo>
                    <a:pt x="3262198" y="0"/>
                    <a:pt x="3302000" y="39802"/>
                    <a:pt x="3302000" y="88900"/>
                  </a:cubicBezTo>
                  <a:lnTo>
                    <a:pt x="3302000" y="800100"/>
                  </a:lnTo>
                  <a:cubicBezTo>
                    <a:pt x="3302000" y="849198"/>
                    <a:pt x="3262198" y="889000"/>
                    <a:pt x="321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33020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Streamlit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48500" y="4476750"/>
            <a:ext cx="2476500" cy="666750"/>
            <a:chOff x="0" y="0"/>
            <a:chExt cx="3302000" cy="889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0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302000">
                  <a:moveTo>
                    <a:pt x="88900" y="0"/>
                  </a:moveTo>
                  <a:lnTo>
                    <a:pt x="3213100" y="0"/>
                  </a:lnTo>
                  <a:cubicBezTo>
                    <a:pt x="3262198" y="0"/>
                    <a:pt x="3302000" y="39802"/>
                    <a:pt x="3302000" y="88900"/>
                  </a:cubicBezTo>
                  <a:lnTo>
                    <a:pt x="3302000" y="800100"/>
                  </a:lnTo>
                  <a:cubicBezTo>
                    <a:pt x="3302000" y="849198"/>
                    <a:pt x="3262198" y="889000"/>
                    <a:pt x="321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33020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Jupyter Notebook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2573000" y="2857500"/>
            <a:ext cx="4572000" cy="4572000"/>
          </a:xfrm>
          <a:custGeom>
            <a:avLst/>
            <a:gdLst/>
            <a:ahLst/>
            <a:cxnLst/>
            <a:rect r="r" b="b" t="t" l="l"/>
            <a:pathLst>
              <a:path h="4572000" w="4572000">
                <a:moveTo>
                  <a:pt x="0" y="0"/>
                </a:moveTo>
                <a:lnTo>
                  <a:pt x="4572000" y="0"/>
                </a:lnTo>
                <a:lnTo>
                  <a:pt x="4572000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762000"/>
            <a:ext cx="57150" cy="571500"/>
            <a:chOff x="0" y="0"/>
            <a:chExt cx="762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600075"/>
            <a:ext cx="7620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1704975"/>
            <a:ext cx="3810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Data Challenges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24000" y="2381250"/>
            <a:ext cx="3238500" cy="762000"/>
            <a:chOff x="0" y="0"/>
            <a:chExt cx="4318000" cy="101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18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4318000">
                  <a:moveTo>
                    <a:pt x="101600" y="0"/>
                  </a:moveTo>
                  <a:lnTo>
                    <a:pt x="4216400" y="0"/>
                  </a:lnTo>
                  <a:cubicBezTo>
                    <a:pt x="4272512" y="0"/>
                    <a:pt x="4318000" y="45488"/>
                    <a:pt x="4318000" y="101600"/>
                  </a:cubicBezTo>
                  <a:lnTo>
                    <a:pt x="4318000" y="914400"/>
                  </a:lnTo>
                  <a:cubicBezTo>
                    <a:pt x="4318000" y="970512"/>
                    <a:pt x="4272512" y="1016000"/>
                    <a:pt x="4216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4318000" cy="108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Missing Values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48250" y="2381250"/>
            <a:ext cx="3238500" cy="762000"/>
            <a:chOff x="0" y="0"/>
            <a:chExt cx="4318000" cy="10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18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4318000">
                  <a:moveTo>
                    <a:pt x="101600" y="0"/>
                  </a:moveTo>
                  <a:lnTo>
                    <a:pt x="4216400" y="0"/>
                  </a:lnTo>
                  <a:cubicBezTo>
                    <a:pt x="4272512" y="0"/>
                    <a:pt x="4318000" y="45488"/>
                    <a:pt x="4318000" y="101600"/>
                  </a:cubicBezTo>
                  <a:lnTo>
                    <a:pt x="4318000" y="914400"/>
                  </a:lnTo>
                  <a:cubicBezTo>
                    <a:pt x="4318000" y="970512"/>
                    <a:pt x="4272512" y="1016000"/>
                    <a:pt x="4216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4318000" cy="108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Duplicate Records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24000" y="3429000"/>
            <a:ext cx="3238500" cy="762000"/>
            <a:chOff x="0" y="0"/>
            <a:chExt cx="4318000" cy="101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18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4318000">
                  <a:moveTo>
                    <a:pt x="101600" y="0"/>
                  </a:moveTo>
                  <a:lnTo>
                    <a:pt x="4216400" y="0"/>
                  </a:lnTo>
                  <a:cubicBezTo>
                    <a:pt x="4272512" y="0"/>
                    <a:pt x="4318000" y="45488"/>
                    <a:pt x="4318000" y="101600"/>
                  </a:cubicBezTo>
                  <a:lnTo>
                    <a:pt x="4318000" y="914400"/>
                  </a:lnTo>
                  <a:cubicBezTo>
                    <a:pt x="4318000" y="970512"/>
                    <a:pt x="4272512" y="1016000"/>
                    <a:pt x="4216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4318000" cy="108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Inconsistent Formats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48250" y="3429000"/>
            <a:ext cx="3238500" cy="762000"/>
            <a:chOff x="0" y="0"/>
            <a:chExt cx="4318000" cy="1016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18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4318000">
                  <a:moveTo>
                    <a:pt x="101600" y="0"/>
                  </a:moveTo>
                  <a:lnTo>
                    <a:pt x="4216400" y="0"/>
                  </a:lnTo>
                  <a:cubicBezTo>
                    <a:pt x="4272512" y="0"/>
                    <a:pt x="4318000" y="45488"/>
                    <a:pt x="4318000" y="101600"/>
                  </a:cubicBezTo>
                  <a:lnTo>
                    <a:pt x="4318000" y="914400"/>
                  </a:lnTo>
                  <a:cubicBezTo>
                    <a:pt x="4318000" y="970512"/>
                    <a:pt x="4272512" y="1016000"/>
                    <a:pt x="4216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4318000" cy="108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Data Quality Issues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24000" y="4467225"/>
            <a:ext cx="3810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Objective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4000" y="4933950"/>
            <a:ext cx="8572500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Clean the data, perform analysis, generate business insights, and develop an interactive dashboard.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573000" y="2857500"/>
            <a:ext cx="4572000" cy="4572000"/>
          </a:xfrm>
          <a:custGeom>
            <a:avLst/>
            <a:gdLst/>
            <a:ahLst/>
            <a:cxnLst/>
            <a:rect r="r" b="b" t="t" l="l"/>
            <a:pathLst>
              <a:path h="4572000" w="4572000">
                <a:moveTo>
                  <a:pt x="0" y="0"/>
                </a:moveTo>
                <a:lnTo>
                  <a:pt x="4572000" y="0"/>
                </a:lnTo>
                <a:lnTo>
                  <a:pt x="4572000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44000" y="7191375"/>
            <a:ext cx="0" cy="285750"/>
          </a:xfrm>
          <a:prstGeom prst="line">
            <a:avLst/>
          </a:prstGeom>
          <a:ln cap="flat" w="1905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" id="3"/>
          <p:cNvSpPr/>
          <p:nvPr/>
        </p:nvSpPr>
        <p:spPr>
          <a:xfrm>
            <a:off x="9144000" y="6096000"/>
            <a:ext cx="0" cy="285750"/>
          </a:xfrm>
          <a:prstGeom prst="line">
            <a:avLst/>
          </a:prstGeom>
          <a:ln cap="flat" w="1905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" id="4"/>
          <p:cNvSpPr/>
          <p:nvPr/>
        </p:nvSpPr>
        <p:spPr>
          <a:xfrm>
            <a:off x="9144000" y="5000625"/>
            <a:ext cx="0" cy="285750"/>
          </a:xfrm>
          <a:prstGeom prst="line">
            <a:avLst/>
          </a:prstGeom>
          <a:ln cap="flat" w="1905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" id="5"/>
          <p:cNvSpPr/>
          <p:nvPr/>
        </p:nvSpPr>
        <p:spPr>
          <a:xfrm>
            <a:off x="9144000" y="3905250"/>
            <a:ext cx="0" cy="285750"/>
          </a:xfrm>
          <a:prstGeom prst="line">
            <a:avLst/>
          </a:prstGeom>
          <a:ln cap="flat" w="1905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>
            <a:off x="9144000" y="2809875"/>
            <a:ext cx="0" cy="285750"/>
          </a:xfrm>
          <a:prstGeom prst="line">
            <a:avLst/>
          </a:prstGeom>
          <a:ln cap="flat" w="1905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" y="762000"/>
            <a:ext cx="57150" cy="571500"/>
            <a:chOff x="0" y="0"/>
            <a:chExt cx="76200" cy="76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6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24000" y="590550"/>
            <a:ext cx="7620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Project Workflow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143750" y="2095500"/>
            <a:ext cx="4000500" cy="619125"/>
            <a:chOff x="0" y="0"/>
            <a:chExt cx="5334000" cy="825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34000" cy="825500"/>
            </a:xfrm>
            <a:custGeom>
              <a:avLst/>
              <a:gdLst/>
              <a:ahLst/>
              <a:cxnLst/>
              <a:rect r="r" b="b" t="t" l="l"/>
              <a:pathLst>
                <a:path h="825500" w="5334000">
                  <a:moveTo>
                    <a:pt x="82550" y="0"/>
                  </a:moveTo>
                  <a:lnTo>
                    <a:pt x="5251450" y="0"/>
                  </a:lnTo>
                  <a:cubicBezTo>
                    <a:pt x="5297041" y="0"/>
                    <a:pt x="5334000" y="36959"/>
                    <a:pt x="5334000" y="82550"/>
                  </a:cubicBezTo>
                  <a:lnTo>
                    <a:pt x="5334000" y="742950"/>
                  </a:lnTo>
                  <a:cubicBezTo>
                    <a:pt x="5334000" y="788541"/>
                    <a:pt x="5297041" y="825500"/>
                    <a:pt x="5251450" y="825500"/>
                  </a:cubicBezTo>
                  <a:lnTo>
                    <a:pt x="82550" y="825500"/>
                  </a:lnTo>
                  <a:cubicBezTo>
                    <a:pt x="36959" y="825500"/>
                    <a:pt x="0" y="788541"/>
                    <a:pt x="0" y="742950"/>
                  </a:cubicBezTo>
                  <a:lnTo>
                    <a:pt x="0" y="82550"/>
                  </a:lnTo>
                  <a:cubicBezTo>
                    <a:pt x="0" y="36959"/>
                    <a:pt x="36959" y="0"/>
                    <a:pt x="825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5334000" cy="89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Raw Dataset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43750" y="3190875"/>
            <a:ext cx="4000500" cy="619125"/>
            <a:chOff x="0" y="0"/>
            <a:chExt cx="5334000" cy="825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4000" cy="825500"/>
            </a:xfrm>
            <a:custGeom>
              <a:avLst/>
              <a:gdLst/>
              <a:ahLst/>
              <a:cxnLst/>
              <a:rect r="r" b="b" t="t" l="l"/>
              <a:pathLst>
                <a:path h="825500" w="5334000">
                  <a:moveTo>
                    <a:pt x="82550" y="0"/>
                  </a:moveTo>
                  <a:lnTo>
                    <a:pt x="5251450" y="0"/>
                  </a:lnTo>
                  <a:cubicBezTo>
                    <a:pt x="5297041" y="0"/>
                    <a:pt x="5334000" y="36959"/>
                    <a:pt x="5334000" y="82550"/>
                  </a:cubicBezTo>
                  <a:lnTo>
                    <a:pt x="5334000" y="742950"/>
                  </a:lnTo>
                  <a:cubicBezTo>
                    <a:pt x="5334000" y="788541"/>
                    <a:pt x="5297041" y="825500"/>
                    <a:pt x="5251450" y="825500"/>
                  </a:cubicBezTo>
                  <a:lnTo>
                    <a:pt x="82550" y="825500"/>
                  </a:lnTo>
                  <a:cubicBezTo>
                    <a:pt x="36959" y="825500"/>
                    <a:pt x="0" y="788541"/>
                    <a:pt x="0" y="742950"/>
                  </a:cubicBezTo>
                  <a:lnTo>
                    <a:pt x="0" y="82550"/>
                  </a:lnTo>
                  <a:cubicBezTo>
                    <a:pt x="0" y="36959"/>
                    <a:pt x="36959" y="0"/>
                    <a:pt x="825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5334000" cy="89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Data Cleaning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43750" y="4286250"/>
            <a:ext cx="4000500" cy="619125"/>
            <a:chOff x="0" y="0"/>
            <a:chExt cx="5334000" cy="825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34000" cy="825500"/>
            </a:xfrm>
            <a:custGeom>
              <a:avLst/>
              <a:gdLst/>
              <a:ahLst/>
              <a:cxnLst/>
              <a:rect r="r" b="b" t="t" l="l"/>
              <a:pathLst>
                <a:path h="825500" w="5334000">
                  <a:moveTo>
                    <a:pt x="82550" y="0"/>
                  </a:moveTo>
                  <a:lnTo>
                    <a:pt x="5251450" y="0"/>
                  </a:lnTo>
                  <a:cubicBezTo>
                    <a:pt x="5297041" y="0"/>
                    <a:pt x="5334000" y="36959"/>
                    <a:pt x="5334000" y="82550"/>
                  </a:cubicBezTo>
                  <a:lnTo>
                    <a:pt x="5334000" y="742950"/>
                  </a:lnTo>
                  <a:cubicBezTo>
                    <a:pt x="5334000" y="788541"/>
                    <a:pt x="5297041" y="825500"/>
                    <a:pt x="5251450" y="825500"/>
                  </a:cubicBezTo>
                  <a:lnTo>
                    <a:pt x="82550" y="825500"/>
                  </a:lnTo>
                  <a:cubicBezTo>
                    <a:pt x="36959" y="825500"/>
                    <a:pt x="0" y="788541"/>
                    <a:pt x="0" y="742950"/>
                  </a:cubicBezTo>
                  <a:lnTo>
                    <a:pt x="0" y="82550"/>
                  </a:lnTo>
                  <a:cubicBezTo>
                    <a:pt x="0" y="36959"/>
                    <a:pt x="36959" y="0"/>
                    <a:pt x="825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5334000" cy="89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Exploratory Data Analysis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43750" y="5381625"/>
            <a:ext cx="4000500" cy="619125"/>
            <a:chOff x="0" y="0"/>
            <a:chExt cx="5334000" cy="825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34000" cy="825500"/>
            </a:xfrm>
            <a:custGeom>
              <a:avLst/>
              <a:gdLst/>
              <a:ahLst/>
              <a:cxnLst/>
              <a:rect r="r" b="b" t="t" l="l"/>
              <a:pathLst>
                <a:path h="825500" w="5334000">
                  <a:moveTo>
                    <a:pt x="82550" y="0"/>
                  </a:moveTo>
                  <a:lnTo>
                    <a:pt x="5251450" y="0"/>
                  </a:lnTo>
                  <a:cubicBezTo>
                    <a:pt x="5297041" y="0"/>
                    <a:pt x="5334000" y="36959"/>
                    <a:pt x="5334000" y="82550"/>
                  </a:cubicBezTo>
                  <a:lnTo>
                    <a:pt x="5334000" y="742950"/>
                  </a:lnTo>
                  <a:cubicBezTo>
                    <a:pt x="5334000" y="788541"/>
                    <a:pt x="5297041" y="825500"/>
                    <a:pt x="5251450" y="825500"/>
                  </a:cubicBezTo>
                  <a:lnTo>
                    <a:pt x="82550" y="825500"/>
                  </a:lnTo>
                  <a:cubicBezTo>
                    <a:pt x="36959" y="825500"/>
                    <a:pt x="0" y="788541"/>
                    <a:pt x="0" y="742950"/>
                  </a:cubicBezTo>
                  <a:lnTo>
                    <a:pt x="0" y="82550"/>
                  </a:lnTo>
                  <a:cubicBezTo>
                    <a:pt x="0" y="36959"/>
                    <a:pt x="36959" y="0"/>
                    <a:pt x="825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5334000" cy="89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KPI Calculation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43750" y="6477000"/>
            <a:ext cx="4000500" cy="619125"/>
            <a:chOff x="0" y="0"/>
            <a:chExt cx="5334000" cy="825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34000" cy="825500"/>
            </a:xfrm>
            <a:custGeom>
              <a:avLst/>
              <a:gdLst/>
              <a:ahLst/>
              <a:cxnLst/>
              <a:rect r="r" b="b" t="t" l="l"/>
              <a:pathLst>
                <a:path h="825500" w="5334000">
                  <a:moveTo>
                    <a:pt x="82550" y="0"/>
                  </a:moveTo>
                  <a:lnTo>
                    <a:pt x="5251450" y="0"/>
                  </a:lnTo>
                  <a:cubicBezTo>
                    <a:pt x="5297041" y="0"/>
                    <a:pt x="5334000" y="36959"/>
                    <a:pt x="5334000" y="82550"/>
                  </a:cubicBezTo>
                  <a:lnTo>
                    <a:pt x="5334000" y="742950"/>
                  </a:lnTo>
                  <a:cubicBezTo>
                    <a:pt x="5334000" y="788541"/>
                    <a:pt x="5297041" y="825500"/>
                    <a:pt x="5251450" y="825500"/>
                  </a:cubicBezTo>
                  <a:lnTo>
                    <a:pt x="82550" y="825500"/>
                  </a:lnTo>
                  <a:cubicBezTo>
                    <a:pt x="36959" y="825500"/>
                    <a:pt x="0" y="788541"/>
                    <a:pt x="0" y="742950"/>
                  </a:cubicBezTo>
                  <a:lnTo>
                    <a:pt x="0" y="82550"/>
                  </a:lnTo>
                  <a:cubicBezTo>
                    <a:pt x="0" y="36959"/>
                    <a:pt x="36959" y="0"/>
                    <a:pt x="825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5334000" cy="89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Dashboard Development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43750" y="7572375"/>
            <a:ext cx="4000500" cy="704850"/>
            <a:chOff x="0" y="0"/>
            <a:chExt cx="5334000" cy="939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34000" cy="939800"/>
            </a:xfrm>
            <a:custGeom>
              <a:avLst/>
              <a:gdLst/>
              <a:ahLst/>
              <a:cxnLst/>
              <a:rect r="r" b="b" t="t" l="l"/>
              <a:pathLst>
                <a:path h="939800" w="5334000">
                  <a:moveTo>
                    <a:pt x="93980" y="0"/>
                  </a:moveTo>
                  <a:lnTo>
                    <a:pt x="5240020" y="0"/>
                  </a:lnTo>
                  <a:cubicBezTo>
                    <a:pt x="5291924" y="0"/>
                    <a:pt x="5334000" y="42076"/>
                    <a:pt x="5334000" y="93980"/>
                  </a:cubicBezTo>
                  <a:lnTo>
                    <a:pt x="5334000" y="845820"/>
                  </a:lnTo>
                  <a:cubicBezTo>
                    <a:pt x="5334000" y="897724"/>
                    <a:pt x="5291924" y="939800"/>
                    <a:pt x="5240020" y="939800"/>
                  </a:cubicBezTo>
                  <a:lnTo>
                    <a:pt x="93980" y="939800"/>
                  </a:lnTo>
                  <a:cubicBezTo>
                    <a:pt x="69055" y="939800"/>
                    <a:pt x="45151" y="929899"/>
                    <a:pt x="27526" y="912274"/>
                  </a:cubicBezTo>
                  <a:cubicBezTo>
                    <a:pt x="9901" y="894649"/>
                    <a:pt x="0" y="870745"/>
                    <a:pt x="0" y="845820"/>
                  </a:cubicBezTo>
                  <a:lnTo>
                    <a:pt x="0" y="93980"/>
                  </a:lnTo>
                  <a:cubicBezTo>
                    <a:pt x="0" y="42076"/>
                    <a:pt x="42076" y="0"/>
                    <a:pt x="9398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5334000" cy="100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Business Insights &amp; Recommendations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762000"/>
            <a:ext cx="57150" cy="571500"/>
            <a:chOff x="0" y="0"/>
            <a:chExt cx="762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600075"/>
            <a:ext cx="7620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KPI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1533525"/>
            <a:ext cx="5715000" cy="4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Key Performance Indicators (KPIs)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24000" y="2095500"/>
            <a:ext cx="1905000" cy="857250"/>
            <a:chOff x="0" y="0"/>
            <a:chExt cx="2540000" cy="114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540000">
                  <a:moveTo>
                    <a:pt x="114300" y="0"/>
                  </a:moveTo>
                  <a:lnTo>
                    <a:pt x="2425700" y="0"/>
                  </a:lnTo>
                  <a:cubicBezTo>
                    <a:pt x="2488826" y="0"/>
                    <a:pt x="2540000" y="51174"/>
                    <a:pt x="2540000" y="114300"/>
                  </a:cubicBezTo>
                  <a:lnTo>
                    <a:pt x="2540000" y="1028700"/>
                  </a:lnTo>
                  <a:cubicBezTo>
                    <a:pt x="2540000" y="1091826"/>
                    <a:pt x="2488826" y="1143000"/>
                    <a:pt x="2425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540000" cy="11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Total Revenue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714750" y="2095500"/>
            <a:ext cx="1905000" cy="857250"/>
            <a:chOff x="0" y="0"/>
            <a:chExt cx="25400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540000">
                  <a:moveTo>
                    <a:pt x="114300" y="0"/>
                  </a:moveTo>
                  <a:lnTo>
                    <a:pt x="2425700" y="0"/>
                  </a:lnTo>
                  <a:cubicBezTo>
                    <a:pt x="2488826" y="0"/>
                    <a:pt x="2540000" y="51174"/>
                    <a:pt x="2540000" y="114300"/>
                  </a:cubicBezTo>
                  <a:lnTo>
                    <a:pt x="2540000" y="1028700"/>
                  </a:lnTo>
                  <a:cubicBezTo>
                    <a:pt x="2540000" y="1091826"/>
                    <a:pt x="2488826" y="1143000"/>
                    <a:pt x="2425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540000" cy="11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Total Profit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905500" y="2095500"/>
            <a:ext cx="1905000" cy="857250"/>
            <a:chOff x="0" y="0"/>
            <a:chExt cx="2540000" cy="114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4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540000">
                  <a:moveTo>
                    <a:pt x="114300" y="0"/>
                  </a:moveTo>
                  <a:lnTo>
                    <a:pt x="2425700" y="0"/>
                  </a:lnTo>
                  <a:cubicBezTo>
                    <a:pt x="2488826" y="0"/>
                    <a:pt x="2540000" y="51174"/>
                    <a:pt x="2540000" y="114300"/>
                  </a:cubicBezTo>
                  <a:lnTo>
                    <a:pt x="2540000" y="1028700"/>
                  </a:lnTo>
                  <a:cubicBezTo>
                    <a:pt x="2540000" y="1091826"/>
                    <a:pt x="2488826" y="1143000"/>
                    <a:pt x="2425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540000" cy="11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Total Orders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096250" y="2095500"/>
            <a:ext cx="1905000" cy="857250"/>
            <a:chOff x="0" y="0"/>
            <a:chExt cx="2540000" cy="1143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540000">
                  <a:moveTo>
                    <a:pt x="114300" y="0"/>
                  </a:moveTo>
                  <a:lnTo>
                    <a:pt x="2425700" y="0"/>
                  </a:lnTo>
                  <a:cubicBezTo>
                    <a:pt x="2488826" y="0"/>
                    <a:pt x="2540000" y="51174"/>
                    <a:pt x="2540000" y="114300"/>
                  </a:cubicBezTo>
                  <a:lnTo>
                    <a:pt x="2540000" y="1028700"/>
                  </a:lnTo>
                  <a:cubicBezTo>
                    <a:pt x="2540000" y="1091826"/>
                    <a:pt x="2488826" y="1143000"/>
                    <a:pt x="2425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540000" cy="11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Avg Order Value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24000" y="3238500"/>
            <a:ext cx="38100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Purpose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4000" y="3571875"/>
            <a:ext cx="714375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KPIs provide a quick overview of business performance and help monitor sales growth and profitability.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573100" y="7233032"/>
            <a:ext cx="5628550" cy="3015868"/>
          </a:xfrm>
          <a:custGeom>
            <a:avLst/>
            <a:gdLst/>
            <a:ahLst/>
            <a:cxnLst/>
            <a:rect r="r" b="b" t="t" l="l"/>
            <a:pathLst>
              <a:path h="3015868" w="5628550">
                <a:moveTo>
                  <a:pt x="0" y="0"/>
                </a:moveTo>
                <a:lnTo>
                  <a:pt x="5628550" y="0"/>
                </a:lnTo>
                <a:lnTo>
                  <a:pt x="5628550" y="3015868"/>
                </a:lnTo>
                <a:lnTo>
                  <a:pt x="0" y="301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34" r="0" b="-2009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573100" y="4299208"/>
            <a:ext cx="5628550" cy="3048754"/>
          </a:xfrm>
          <a:custGeom>
            <a:avLst/>
            <a:gdLst/>
            <a:ahLst/>
            <a:cxnLst/>
            <a:rect r="r" b="b" t="t" l="l"/>
            <a:pathLst>
              <a:path h="3048754" w="5628550">
                <a:moveTo>
                  <a:pt x="0" y="0"/>
                </a:moveTo>
                <a:lnTo>
                  <a:pt x="5628550" y="0"/>
                </a:lnTo>
                <a:lnTo>
                  <a:pt x="5628550" y="3048754"/>
                </a:lnTo>
                <a:lnTo>
                  <a:pt x="0" y="3048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7" t="-2476" r="-4621" b="-19037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761400" y="7233032"/>
            <a:ext cx="5811700" cy="3015868"/>
          </a:xfrm>
          <a:custGeom>
            <a:avLst/>
            <a:gdLst/>
            <a:ahLst/>
            <a:cxnLst/>
            <a:rect r="r" b="b" t="t" l="l"/>
            <a:pathLst>
              <a:path h="3015868" w="5811700">
                <a:moveTo>
                  <a:pt x="0" y="0"/>
                </a:moveTo>
                <a:lnTo>
                  <a:pt x="5811700" y="0"/>
                </a:lnTo>
                <a:lnTo>
                  <a:pt x="5811700" y="3015868"/>
                </a:lnTo>
                <a:lnTo>
                  <a:pt x="0" y="301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190" r="0" b="-4136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61400" y="4299208"/>
            <a:ext cx="5811700" cy="3048754"/>
          </a:xfrm>
          <a:custGeom>
            <a:avLst/>
            <a:gdLst/>
            <a:ahLst/>
            <a:cxnLst/>
            <a:rect r="r" b="b" t="t" l="l"/>
            <a:pathLst>
              <a:path h="3048754" w="5811700">
                <a:moveTo>
                  <a:pt x="0" y="0"/>
                </a:moveTo>
                <a:lnTo>
                  <a:pt x="5811700" y="0"/>
                </a:lnTo>
                <a:lnTo>
                  <a:pt x="5811700" y="3048754"/>
                </a:lnTo>
                <a:lnTo>
                  <a:pt x="0" y="3048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654" r="-754" b="-7692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762000"/>
            <a:ext cx="57150" cy="571500"/>
            <a:chOff x="0" y="0"/>
            <a:chExt cx="762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590549"/>
            <a:ext cx="7620000" cy="80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1"/>
              </a:lnSpc>
              <a:spcBef>
                <a:spcPct val="0"/>
              </a:spcBef>
            </a:pPr>
            <a:r>
              <a:rPr lang="en-US" sz="42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Monthly Sales Trend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1524000"/>
            <a:ext cx="38100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Objective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4000" y="1895475"/>
            <a:ext cx="6667500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Analyze monthly sales performance and identify seasonal patterns.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4000" y="2381250"/>
            <a:ext cx="38100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Observations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4000" y="2714625"/>
            <a:ext cx="6667500" cy="102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Sales fluctuate throughout the year.</a:t>
            </a:r>
          </a:p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Seasonal peaks indicate higher customer demand.</a:t>
            </a:r>
          </a:p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Trend analysis supports inventory and sales planning.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24000" y="3779814"/>
            <a:ext cx="13582348" cy="6426246"/>
          </a:xfrm>
          <a:custGeom>
            <a:avLst/>
            <a:gdLst/>
            <a:ahLst/>
            <a:cxnLst/>
            <a:rect r="r" b="b" t="t" l="l"/>
            <a:pathLst>
              <a:path h="6426246" w="13582348">
                <a:moveTo>
                  <a:pt x="0" y="0"/>
                </a:moveTo>
                <a:lnTo>
                  <a:pt x="13582348" y="0"/>
                </a:lnTo>
                <a:lnTo>
                  <a:pt x="13582348" y="6426247"/>
                </a:lnTo>
                <a:lnTo>
                  <a:pt x="0" y="642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52" r="-264" b="-997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762000"/>
            <a:ext cx="57150" cy="571500"/>
            <a:chOff x="0" y="0"/>
            <a:chExt cx="762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590549"/>
            <a:ext cx="7620000" cy="80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1"/>
              </a:lnSpc>
              <a:spcBef>
                <a:spcPct val="0"/>
              </a:spcBef>
            </a:pPr>
            <a:r>
              <a:rPr lang="en-US" sz="42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Sales by Category and Region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1543004"/>
            <a:ext cx="3810000" cy="37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Objective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4000" y="1895475"/>
            <a:ext cx="6667500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Compare sales performance across product categories and regions.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4000" y="2400254"/>
            <a:ext cx="3810000" cy="37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Observations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4000" y="2714625"/>
            <a:ext cx="6667500" cy="102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Technology category generates the highest revenue.</a:t>
            </a:r>
          </a:p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Regional performance varies across markets.</a:t>
            </a:r>
          </a:p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Growth opportunities exist in lower-performing regions.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18393" y="3956050"/>
            <a:ext cx="8325607" cy="5949950"/>
          </a:xfrm>
          <a:custGeom>
            <a:avLst/>
            <a:gdLst/>
            <a:ahLst/>
            <a:cxnLst/>
            <a:rect r="r" b="b" t="t" l="l"/>
            <a:pathLst>
              <a:path h="5949950" w="8325607">
                <a:moveTo>
                  <a:pt x="0" y="0"/>
                </a:moveTo>
                <a:lnTo>
                  <a:pt x="8325607" y="0"/>
                </a:lnTo>
                <a:lnTo>
                  <a:pt x="8325607" y="5949950"/>
                </a:lnTo>
                <a:lnTo>
                  <a:pt x="0" y="5949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02" t="-195" r="0" b="-942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144000" y="4000500"/>
            <a:ext cx="8694573" cy="5905500"/>
          </a:xfrm>
          <a:custGeom>
            <a:avLst/>
            <a:gdLst/>
            <a:ahLst/>
            <a:cxnLst/>
            <a:rect r="r" b="b" t="t" l="l"/>
            <a:pathLst>
              <a:path h="5905500" w="8694573">
                <a:moveTo>
                  <a:pt x="0" y="0"/>
                </a:moveTo>
                <a:lnTo>
                  <a:pt x="8694573" y="0"/>
                </a:lnTo>
                <a:lnTo>
                  <a:pt x="8694573" y="5905500"/>
                </a:lnTo>
                <a:lnTo>
                  <a:pt x="0" y="590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64" t="-131" r="0" b="-131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762000"/>
            <a:ext cx="57150" cy="571500"/>
            <a:chOff x="0" y="0"/>
            <a:chExt cx="762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590549"/>
            <a:ext cx="7620000" cy="80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1"/>
              </a:lnSpc>
              <a:spcBef>
                <a:spcPct val="0"/>
              </a:spcBef>
            </a:pPr>
            <a:r>
              <a:rPr lang="en-US" sz="42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Top 10 Customers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1543004"/>
            <a:ext cx="3810000" cy="37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Objective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4000" y="1895475"/>
            <a:ext cx="666750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Identify customers contributing the highest sales revenue.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4000" y="2400254"/>
            <a:ext cx="3810000" cy="37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Observations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4000" y="2714625"/>
            <a:ext cx="6667500" cy="102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Top customers contribute a significant share of revenue.</a:t>
            </a:r>
          </a:p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Customer retention improves profitability.</a:t>
            </a:r>
          </a:p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High-value customers should be prioritized.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24000" y="3851275"/>
            <a:ext cx="13102629" cy="6283325"/>
          </a:xfrm>
          <a:custGeom>
            <a:avLst/>
            <a:gdLst/>
            <a:ahLst/>
            <a:cxnLst/>
            <a:rect r="r" b="b" t="t" l="l"/>
            <a:pathLst>
              <a:path h="6283325" w="13102629">
                <a:moveTo>
                  <a:pt x="0" y="0"/>
                </a:moveTo>
                <a:lnTo>
                  <a:pt x="13102629" y="0"/>
                </a:lnTo>
                <a:lnTo>
                  <a:pt x="13102629" y="6283325"/>
                </a:lnTo>
                <a:lnTo>
                  <a:pt x="0" y="628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4" r="-573" b="-537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762000"/>
            <a:ext cx="57150" cy="571500"/>
            <a:chOff x="0" y="0"/>
            <a:chExt cx="762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590549"/>
            <a:ext cx="7620000" cy="80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1"/>
              </a:lnSpc>
              <a:spcBef>
                <a:spcPct val="0"/>
              </a:spcBef>
            </a:pPr>
            <a:r>
              <a:rPr lang="en-US" sz="42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Interactive Dashboard Filters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1543004"/>
            <a:ext cx="3810000" cy="37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Available Filters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4000" y="1905000"/>
            <a:ext cx="5715000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Date Range</a:t>
            </a:r>
          </a:p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Region</a:t>
            </a:r>
          </a:p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Category</a:t>
            </a:r>
          </a:p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Segment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4000" y="3352754"/>
            <a:ext cx="3810000" cy="37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Benefits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4000" y="3714750"/>
            <a:ext cx="5715000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Real-time data exploration</a:t>
            </a:r>
          </a:p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Customized business analysis</a:t>
            </a:r>
          </a:p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Faster decision-making</a:t>
            </a:r>
          </a:p>
          <a:p>
            <a:pPr algn="l" marL="0" indent="0" lvl="0">
              <a:lnSpc>
                <a:spcPts val="271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Improved user experience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119841" y="1333500"/>
            <a:ext cx="5047375" cy="7057446"/>
          </a:xfrm>
          <a:custGeom>
            <a:avLst/>
            <a:gdLst/>
            <a:ahLst/>
            <a:cxnLst/>
            <a:rect r="r" b="b" t="t" l="l"/>
            <a:pathLst>
              <a:path h="7057446" w="5047375">
                <a:moveTo>
                  <a:pt x="0" y="0"/>
                </a:moveTo>
                <a:lnTo>
                  <a:pt x="5047375" y="0"/>
                </a:lnTo>
                <a:lnTo>
                  <a:pt x="5047375" y="7057446"/>
                </a:lnTo>
                <a:lnTo>
                  <a:pt x="0" y="7057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77" t="-2936" r="-2342" b="-293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762000"/>
            <a:ext cx="57150" cy="571500"/>
            <a:chOff x="0" y="0"/>
            <a:chExt cx="762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590550"/>
            <a:ext cx="7620000" cy="80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1"/>
              </a:lnSpc>
              <a:spcBef>
                <a:spcPct val="0"/>
              </a:spcBef>
            </a:pPr>
            <a:r>
              <a:rPr lang="en-US" sz="42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Key Business Insights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3000" y="1905000"/>
            <a:ext cx="7810500" cy="1333500"/>
            <a:chOff x="0" y="0"/>
            <a:chExt cx="10414000" cy="17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177800" y="0"/>
                  </a:moveTo>
                  <a:lnTo>
                    <a:pt x="10236200" y="0"/>
                  </a:lnTo>
                  <a:cubicBezTo>
                    <a:pt x="10334396" y="0"/>
                    <a:pt x="10414000" y="79604"/>
                    <a:pt x="10414000" y="177800"/>
                  </a:cubicBezTo>
                  <a:lnTo>
                    <a:pt x="10414000" y="1600200"/>
                  </a:lnTo>
                  <a:cubicBezTo>
                    <a:pt x="10414000" y="1698396"/>
                    <a:pt x="10334396" y="1778000"/>
                    <a:pt x="1023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1125" y="2381250"/>
            <a:ext cx="381000" cy="466725"/>
            <a:chOff x="0" y="0"/>
            <a:chExt cx="508000" cy="6223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0" cy="622300"/>
            </a:xfrm>
            <a:custGeom>
              <a:avLst/>
              <a:gdLst/>
              <a:ahLst/>
              <a:cxnLst/>
              <a:rect r="r" b="b" t="t" l="l"/>
              <a:pathLst>
                <a:path h="622300" w="508000">
                  <a:moveTo>
                    <a:pt x="254000" y="0"/>
                  </a:moveTo>
                  <a:cubicBezTo>
                    <a:pt x="113720" y="0"/>
                    <a:pt x="0" y="139307"/>
                    <a:pt x="0" y="311150"/>
                  </a:cubicBezTo>
                  <a:cubicBezTo>
                    <a:pt x="0" y="482993"/>
                    <a:pt x="113720" y="622300"/>
                    <a:pt x="254000" y="622300"/>
                  </a:cubicBezTo>
                  <a:cubicBezTo>
                    <a:pt x="394280" y="622300"/>
                    <a:pt x="508000" y="482993"/>
                    <a:pt x="508000" y="311150"/>
                  </a:cubicBezTo>
                  <a:cubicBezTo>
                    <a:pt x="508000" y="139307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508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DIN Next"/>
                  <a:ea typeface="DIN Next"/>
                  <a:cs typeface="DIN Next"/>
                  <a:sym typeface="DIN Next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905000" y="2390775"/>
            <a:ext cx="6762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Technology category generates the highest sales revenue.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34500" y="1905000"/>
            <a:ext cx="7810500" cy="1333500"/>
            <a:chOff x="0" y="0"/>
            <a:chExt cx="10414000" cy="177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177800" y="0"/>
                  </a:moveTo>
                  <a:lnTo>
                    <a:pt x="10236200" y="0"/>
                  </a:lnTo>
                  <a:cubicBezTo>
                    <a:pt x="10334396" y="0"/>
                    <a:pt x="10414000" y="79604"/>
                    <a:pt x="10414000" y="177800"/>
                  </a:cubicBezTo>
                  <a:lnTo>
                    <a:pt x="10414000" y="1600200"/>
                  </a:lnTo>
                  <a:cubicBezTo>
                    <a:pt x="10414000" y="1698396"/>
                    <a:pt x="10334396" y="1778000"/>
                    <a:pt x="1023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72625" y="2381250"/>
            <a:ext cx="381000" cy="466725"/>
            <a:chOff x="0" y="0"/>
            <a:chExt cx="508000" cy="622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8000" cy="622300"/>
            </a:xfrm>
            <a:custGeom>
              <a:avLst/>
              <a:gdLst/>
              <a:ahLst/>
              <a:cxnLst/>
              <a:rect r="r" b="b" t="t" l="l"/>
              <a:pathLst>
                <a:path h="622300" w="508000">
                  <a:moveTo>
                    <a:pt x="254000" y="0"/>
                  </a:moveTo>
                  <a:cubicBezTo>
                    <a:pt x="113720" y="0"/>
                    <a:pt x="0" y="139307"/>
                    <a:pt x="0" y="311150"/>
                  </a:cubicBezTo>
                  <a:cubicBezTo>
                    <a:pt x="0" y="482993"/>
                    <a:pt x="113720" y="622300"/>
                    <a:pt x="254000" y="622300"/>
                  </a:cubicBezTo>
                  <a:cubicBezTo>
                    <a:pt x="394280" y="622300"/>
                    <a:pt x="508000" y="482993"/>
                    <a:pt x="508000" y="311150"/>
                  </a:cubicBezTo>
                  <a:cubicBezTo>
                    <a:pt x="508000" y="139307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508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DIN Next"/>
                  <a:ea typeface="DIN Next"/>
                  <a:cs typeface="DIN Next"/>
                  <a:sym typeface="DIN Next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096500" y="2390775"/>
            <a:ext cx="6762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Monthly sales trends reveal seasonal demand patterns.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43000" y="3524250"/>
            <a:ext cx="7810500" cy="1333500"/>
            <a:chOff x="0" y="0"/>
            <a:chExt cx="10414000" cy="1778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177800" y="0"/>
                  </a:moveTo>
                  <a:lnTo>
                    <a:pt x="10236200" y="0"/>
                  </a:lnTo>
                  <a:cubicBezTo>
                    <a:pt x="10334396" y="0"/>
                    <a:pt x="10414000" y="79604"/>
                    <a:pt x="10414000" y="177800"/>
                  </a:cubicBezTo>
                  <a:lnTo>
                    <a:pt x="10414000" y="1600200"/>
                  </a:lnTo>
                  <a:cubicBezTo>
                    <a:pt x="10414000" y="1698396"/>
                    <a:pt x="10334396" y="1778000"/>
                    <a:pt x="1023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81125" y="4000500"/>
            <a:ext cx="381000" cy="466725"/>
            <a:chOff x="0" y="0"/>
            <a:chExt cx="508000" cy="6223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" cy="622300"/>
            </a:xfrm>
            <a:custGeom>
              <a:avLst/>
              <a:gdLst/>
              <a:ahLst/>
              <a:cxnLst/>
              <a:rect r="r" b="b" t="t" l="l"/>
              <a:pathLst>
                <a:path h="622300" w="508000">
                  <a:moveTo>
                    <a:pt x="254000" y="0"/>
                  </a:moveTo>
                  <a:cubicBezTo>
                    <a:pt x="113720" y="0"/>
                    <a:pt x="0" y="139307"/>
                    <a:pt x="0" y="311150"/>
                  </a:cubicBezTo>
                  <a:cubicBezTo>
                    <a:pt x="0" y="482993"/>
                    <a:pt x="113720" y="622300"/>
                    <a:pt x="254000" y="622300"/>
                  </a:cubicBezTo>
                  <a:cubicBezTo>
                    <a:pt x="394280" y="622300"/>
                    <a:pt x="508000" y="482993"/>
                    <a:pt x="508000" y="311150"/>
                  </a:cubicBezTo>
                  <a:cubicBezTo>
                    <a:pt x="508000" y="139307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508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DIN Next"/>
                  <a:ea typeface="DIN Next"/>
                  <a:cs typeface="DIN Next"/>
                  <a:sym typeface="DIN Next"/>
                </a:rPr>
                <a:t>3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905000" y="4010025"/>
            <a:ext cx="6762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Top customers contribute a significant share of total revenue.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34500" y="3524250"/>
            <a:ext cx="7810500" cy="1333500"/>
            <a:chOff x="0" y="0"/>
            <a:chExt cx="10414000" cy="1778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177800" y="0"/>
                  </a:moveTo>
                  <a:lnTo>
                    <a:pt x="10236200" y="0"/>
                  </a:lnTo>
                  <a:cubicBezTo>
                    <a:pt x="10334396" y="0"/>
                    <a:pt x="10414000" y="79604"/>
                    <a:pt x="10414000" y="177800"/>
                  </a:cubicBezTo>
                  <a:lnTo>
                    <a:pt x="10414000" y="1600200"/>
                  </a:lnTo>
                  <a:cubicBezTo>
                    <a:pt x="10414000" y="1698396"/>
                    <a:pt x="10334396" y="1778000"/>
                    <a:pt x="1023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72625" y="4000500"/>
            <a:ext cx="381000" cy="466725"/>
            <a:chOff x="0" y="0"/>
            <a:chExt cx="508000" cy="6223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8000" cy="622300"/>
            </a:xfrm>
            <a:custGeom>
              <a:avLst/>
              <a:gdLst/>
              <a:ahLst/>
              <a:cxnLst/>
              <a:rect r="r" b="b" t="t" l="l"/>
              <a:pathLst>
                <a:path h="622300" w="508000">
                  <a:moveTo>
                    <a:pt x="254000" y="0"/>
                  </a:moveTo>
                  <a:cubicBezTo>
                    <a:pt x="113720" y="0"/>
                    <a:pt x="0" y="139307"/>
                    <a:pt x="0" y="311150"/>
                  </a:cubicBezTo>
                  <a:cubicBezTo>
                    <a:pt x="0" y="482993"/>
                    <a:pt x="113720" y="622300"/>
                    <a:pt x="254000" y="622300"/>
                  </a:cubicBezTo>
                  <a:cubicBezTo>
                    <a:pt x="394280" y="622300"/>
                    <a:pt x="508000" y="482993"/>
                    <a:pt x="508000" y="311150"/>
                  </a:cubicBezTo>
                  <a:cubicBezTo>
                    <a:pt x="508000" y="139307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508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DIN Next"/>
                  <a:ea typeface="DIN Next"/>
                  <a:cs typeface="DIN Next"/>
                  <a:sym typeface="DIN Next"/>
                </a:rPr>
                <a:t>4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096500" y="4010025"/>
            <a:ext cx="6762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Regional performance varies across different markets.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238750" y="5143500"/>
            <a:ext cx="7810500" cy="1333500"/>
            <a:chOff x="0" y="0"/>
            <a:chExt cx="10414000" cy="1778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177800" y="0"/>
                  </a:moveTo>
                  <a:lnTo>
                    <a:pt x="10236200" y="0"/>
                  </a:lnTo>
                  <a:cubicBezTo>
                    <a:pt x="10334396" y="0"/>
                    <a:pt x="10414000" y="79604"/>
                    <a:pt x="10414000" y="177800"/>
                  </a:cubicBezTo>
                  <a:lnTo>
                    <a:pt x="10414000" y="1600200"/>
                  </a:lnTo>
                  <a:cubicBezTo>
                    <a:pt x="10414000" y="1698396"/>
                    <a:pt x="10334396" y="1778000"/>
                    <a:pt x="1023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476875" y="5619750"/>
            <a:ext cx="381000" cy="466725"/>
            <a:chOff x="0" y="0"/>
            <a:chExt cx="508000" cy="6223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08000" cy="622300"/>
            </a:xfrm>
            <a:custGeom>
              <a:avLst/>
              <a:gdLst/>
              <a:ahLst/>
              <a:cxnLst/>
              <a:rect r="r" b="b" t="t" l="l"/>
              <a:pathLst>
                <a:path h="622300" w="508000">
                  <a:moveTo>
                    <a:pt x="254000" y="0"/>
                  </a:moveTo>
                  <a:cubicBezTo>
                    <a:pt x="113720" y="0"/>
                    <a:pt x="0" y="139307"/>
                    <a:pt x="0" y="311150"/>
                  </a:cubicBezTo>
                  <a:cubicBezTo>
                    <a:pt x="0" y="482993"/>
                    <a:pt x="113720" y="622300"/>
                    <a:pt x="254000" y="622300"/>
                  </a:cubicBezTo>
                  <a:cubicBezTo>
                    <a:pt x="394280" y="622300"/>
                    <a:pt x="508000" y="482993"/>
                    <a:pt x="508000" y="311150"/>
                  </a:cubicBezTo>
                  <a:cubicBezTo>
                    <a:pt x="508000" y="139307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508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DIN Next"/>
                  <a:ea typeface="DIN Next"/>
                  <a:cs typeface="DIN Next"/>
                  <a:sym typeface="DIN Next"/>
                </a:rPr>
                <a:t>5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000750" y="5629275"/>
            <a:ext cx="6762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Year-over-year growth indicates positive business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762000"/>
            <a:ext cx="57150" cy="571500"/>
            <a:chOff x="0" y="0"/>
            <a:chExt cx="762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581024"/>
            <a:ext cx="7620000" cy="80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1"/>
              </a:lnSpc>
              <a:spcBef>
                <a:spcPct val="0"/>
              </a:spcBef>
            </a:pPr>
            <a:r>
              <a:rPr lang="en-US" sz="42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Business Recommendations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3000" y="1905000"/>
            <a:ext cx="7810500" cy="1333500"/>
            <a:chOff x="0" y="0"/>
            <a:chExt cx="10414000" cy="17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177800" y="0"/>
                  </a:moveTo>
                  <a:lnTo>
                    <a:pt x="10236200" y="0"/>
                  </a:lnTo>
                  <a:cubicBezTo>
                    <a:pt x="10334396" y="0"/>
                    <a:pt x="10414000" y="79604"/>
                    <a:pt x="10414000" y="177800"/>
                  </a:cubicBezTo>
                  <a:lnTo>
                    <a:pt x="10414000" y="1600200"/>
                  </a:lnTo>
                  <a:cubicBezTo>
                    <a:pt x="10414000" y="1698396"/>
                    <a:pt x="10334396" y="1778000"/>
                    <a:pt x="1023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1125" y="2381250"/>
            <a:ext cx="381000" cy="466725"/>
            <a:chOff x="0" y="0"/>
            <a:chExt cx="508000" cy="6223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0" cy="622300"/>
            </a:xfrm>
            <a:custGeom>
              <a:avLst/>
              <a:gdLst/>
              <a:ahLst/>
              <a:cxnLst/>
              <a:rect r="r" b="b" t="t" l="l"/>
              <a:pathLst>
                <a:path h="622300" w="508000">
                  <a:moveTo>
                    <a:pt x="254000" y="0"/>
                  </a:moveTo>
                  <a:cubicBezTo>
                    <a:pt x="113720" y="0"/>
                    <a:pt x="0" y="139307"/>
                    <a:pt x="0" y="311150"/>
                  </a:cubicBezTo>
                  <a:cubicBezTo>
                    <a:pt x="0" y="482993"/>
                    <a:pt x="113720" y="622300"/>
                    <a:pt x="254000" y="622300"/>
                  </a:cubicBezTo>
                  <a:cubicBezTo>
                    <a:pt x="394280" y="622300"/>
                    <a:pt x="508000" y="482993"/>
                    <a:pt x="508000" y="311150"/>
                  </a:cubicBezTo>
                  <a:cubicBezTo>
                    <a:pt x="508000" y="139307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508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DIN Next"/>
                  <a:ea typeface="DIN Next"/>
                  <a:cs typeface="DIN Next"/>
                  <a:sym typeface="DIN Next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905000" y="2266950"/>
            <a:ext cx="6762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Focus on high-performing product categories.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34500" y="1905000"/>
            <a:ext cx="7810500" cy="1333500"/>
            <a:chOff x="0" y="0"/>
            <a:chExt cx="10414000" cy="177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177800" y="0"/>
                  </a:moveTo>
                  <a:lnTo>
                    <a:pt x="10236200" y="0"/>
                  </a:lnTo>
                  <a:cubicBezTo>
                    <a:pt x="10334396" y="0"/>
                    <a:pt x="10414000" y="79604"/>
                    <a:pt x="10414000" y="177800"/>
                  </a:cubicBezTo>
                  <a:lnTo>
                    <a:pt x="10414000" y="1600200"/>
                  </a:lnTo>
                  <a:cubicBezTo>
                    <a:pt x="10414000" y="1698396"/>
                    <a:pt x="10334396" y="1778000"/>
                    <a:pt x="1023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72625" y="2381250"/>
            <a:ext cx="381000" cy="466725"/>
            <a:chOff x="0" y="0"/>
            <a:chExt cx="508000" cy="622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8000" cy="622300"/>
            </a:xfrm>
            <a:custGeom>
              <a:avLst/>
              <a:gdLst/>
              <a:ahLst/>
              <a:cxnLst/>
              <a:rect r="r" b="b" t="t" l="l"/>
              <a:pathLst>
                <a:path h="622300" w="508000">
                  <a:moveTo>
                    <a:pt x="254000" y="0"/>
                  </a:moveTo>
                  <a:cubicBezTo>
                    <a:pt x="113720" y="0"/>
                    <a:pt x="0" y="139307"/>
                    <a:pt x="0" y="311150"/>
                  </a:cubicBezTo>
                  <a:cubicBezTo>
                    <a:pt x="0" y="482993"/>
                    <a:pt x="113720" y="622300"/>
                    <a:pt x="254000" y="622300"/>
                  </a:cubicBezTo>
                  <a:cubicBezTo>
                    <a:pt x="394280" y="622300"/>
                    <a:pt x="508000" y="482993"/>
                    <a:pt x="508000" y="311150"/>
                  </a:cubicBezTo>
                  <a:cubicBezTo>
                    <a:pt x="508000" y="139307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508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DIN Next"/>
                  <a:ea typeface="DIN Next"/>
                  <a:cs typeface="DIN Next"/>
                  <a:sym typeface="DIN Next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096500" y="2266950"/>
            <a:ext cx="6762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Strengthen customer retention programs.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43000" y="3524250"/>
            <a:ext cx="7810500" cy="1333500"/>
            <a:chOff x="0" y="0"/>
            <a:chExt cx="10414000" cy="1778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177800" y="0"/>
                  </a:moveTo>
                  <a:lnTo>
                    <a:pt x="10236200" y="0"/>
                  </a:lnTo>
                  <a:cubicBezTo>
                    <a:pt x="10334396" y="0"/>
                    <a:pt x="10414000" y="79604"/>
                    <a:pt x="10414000" y="177800"/>
                  </a:cubicBezTo>
                  <a:lnTo>
                    <a:pt x="10414000" y="1600200"/>
                  </a:lnTo>
                  <a:cubicBezTo>
                    <a:pt x="10414000" y="1698396"/>
                    <a:pt x="10334396" y="1778000"/>
                    <a:pt x="1023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81125" y="4000500"/>
            <a:ext cx="381000" cy="466725"/>
            <a:chOff x="0" y="0"/>
            <a:chExt cx="508000" cy="6223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" cy="622300"/>
            </a:xfrm>
            <a:custGeom>
              <a:avLst/>
              <a:gdLst/>
              <a:ahLst/>
              <a:cxnLst/>
              <a:rect r="r" b="b" t="t" l="l"/>
              <a:pathLst>
                <a:path h="622300" w="508000">
                  <a:moveTo>
                    <a:pt x="254000" y="0"/>
                  </a:moveTo>
                  <a:cubicBezTo>
                    <a:pt x="113720" y="0"/>
                    <a:pt x="0" y="139307"/>
                    <a:pt x="0" y="311150"/>
                  </a:cubicBezTo>
                  <a:cubicBezTo>
                    <a:pt x="0" y="482993"/>
                    <a:pt x="113720" y="622300"/>
                    <a:pt x="254000" y="622300"/>
                  </a:cubicBezTo>
                  <a:cubicBezTo>
                    <a:pt x="394280" y="622300"/>
                    <a:pt x="508000" y="482993"/>
                    <a:pt x="508000" y="311150"/>
                  </a:cubicBezTo>
                  <a:cubicBezTo>
                    <a:pt x="508000" y="139307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508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DIN Next"/>
                  <a:ea typeface="DIN Next"/>
                  <a:cs typeface="DIN Next"/>
                  <a:sym typeface="DIN Next"/>
                </a:rPr>
                <a:t>3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905000" y="3886200"/>
            <a:ext cx="6762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Improve sales performance in lower-performing regions.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34500" y="3524250"/>
            <a:ext cx="7810500" cy="1333500"/>
            <a:chOff x="0" y="0"/>
            <a:chExt cx="10414000" cy="1778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177800" y="0"/>
                  </a:moveTo>
                  <a:lnTo>
                    <a:pt x="10236200" y="0"/>
                  </a:lnTo>
                  <a:cubicBezTo>
                    <a:pt x="10334396" y="0"/>
                    <a:pt x="10414000" y="79604"/>
                    <a:pt x="10414000" y="177800"/>
                  </a:cubicBezTo>
                  <a:lnTo>
                    <a:pt x="10414000" y="1600200"/>
                  </a:lnTo>
                  <a:cubicBezTo>
                    <a:pt x="10414000" y="1698396"/>
                    <a:pt x="10334396" y="1778000"/>
                    <a:pt x="1023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72625" y="4000500"/>
            <a:ext cx="381000" cy="466725"/>
            <a:chOff x="0" y="0"/>
            <a:chExt cx="508000" cy="6223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8000" cy="622300"/>
            </a:xfrm>
            <a:custGeom>
              <a:avLst/>
              <a:gdLst/>
              <a:ahLst/>
              <a:cxnLst/>
              <a:rect r="r" b="b" t="t" l="l"/>
              <a:pathLst>
                <a:path h="622300" w="508000">
                  <a:moveTo>
                    <a:pt x="254000" y="0"/>
                  </a:moveTo>
                  <a:cubicBezTo>
                    <a:pt x="113720" y="0"/>
                    <a:pt x="0" y="139307"/>
                    <a:pt x="0" y="311150"/>
                  </a:cubicBezTo>
                  <a:cubicBezTo>
                    <a:pt x="0" y="482993"/>
                    <a:pt x="113720" y="622300"/>
                    <a:pt x="254000" y="622300"/>
                  </a:cubicBezTo>
                  <a:cubicBezTo>
                    <a:pt x="394280" y="622300"/>
                    <a:pt x="508000" y="482993"/>
                    <a:pt x="508000" y="311150"/>
                  </a:cubicBezTo>
                  <a:cubicBezTo>
                    <a:pt x="508000" y="139307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508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DIN Next"/>
                  <a:ea typeface="DIN Next"/>
                  <a:cs typeface="DIN Next"/>
                  <a:sym typeface="DIN Next"/>
                </a:rPr>
                <a:t>4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096500" y="3886200"/>
            <a:ext cx="6762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Optimize inventory planning based on seasonal demand.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238750" y="5143500"/>
            <a:ext cx="7810500" cy="1333500"/>
            <a:chOff x="0" y="0"/>
            <a:chExt cx="10414000" cy="1778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1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0414000">
                  <a:moveTo>
                    <a:pt x="177800" y="0"/>
                  </a:moveTo>
                  <a:lnTo>
                    <a:pt x="10236200" y="0"/>
                  </a:lnTo>
                  <a:cubicBezTo>
                    <a:pt x="10334396" y="0"/>
                    <a:pt x="10414000" y="79604"/>
                    <a:pt x="10414000" y="177800"/>
                  </a:cubicBezTo>
                  <a:lnTo>
                    <a:pt x="10414000" y="1600200"/>
                  </a:lnTo>
                  <a:cubicBezTo>
                    <a:pt x="10414000" y="1698396"/>
                    <a:pt x="10334396" y="1778000"/>
                    <a:pt x="1023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414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476875" y="5619750"/>
            <a:ext cx="381000" cy="466725"/>
            <a:chOff x="0" y="0"/>
            <a:chExt cx="508000" cy="6223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08000" cy="622300"/>
            </a:xfrm>
            <a:custGeom>
              <a:avLst/>
              <a:gdLst/>
              <a:ahLst/>
              <a:cxnLst/>
              <a:rect r="r" b="b" t="t" l="l"/>
              <a:pathLst>
                <a:path h="622300" w="508000">
                  <a:moveTo>
                    <a:pt x="254000" y="0"/>
                  </a:moveTo>
                  <a:cubicBezTo>
                    <a:pt x="113720" y="0"/>
                    <a:pt x="0" y="139307"/>
                    <a:pt x="0" y="311150"/>
                  </a:cubicBezTo>
                  <a:cubicBezTo>
                    <a:pt x="0" y="482993"/>
                    <a:pt x="113720" y="622300"/>
                    <a:pt x="254000" y="622300"/>
                  </a:cubicBezTo>
                  <a:cubicBezTo>
                    <a:pt x="394280" y="622300"/>
                    <a:pt x="508000" y="482993"/>
                    <a:pt x="508000" y="311150"/>
                  </a:cubicBezTo>
                  <a:cubicBezTo>
                    <a:pt x="508000" y="139307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508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DIN Next"/>
                  <a:ea typeface="DIN Next"/>
                  <a:cs typeface="DIN Next"/>
                  <a:sym typeface="DIN Next"/>
                </a:rPr>
                <a:t>5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000750" y="5505450"/>
            <a:ext cx="67627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Monitor return rates and profitability regularly.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48900"/>
            <a:ext cx="18288000" cy="38100"/>
            <a:chOff x="0" y="0"/>
            <a:chExt cx="24384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571500"/>
            <a:ext cx="57150" cy="571500"/>
            <a:chOff x="0" y="0"/>
            <a:chExt cx="762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24000" y="400049"/>
            <a:ext cx="7620000" cy="80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1"/>
              </a:lnSpc>
              <a:spcBef>
                <a:spcPct val="0"/>
              </a:spcBef>
            </a:pPr>
            <a:r>
              <a:rPr lang="en-US" sz="423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1419225"/>
            <a:ext cx="952500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Successfully cleaned and analyzed retail sales data.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Performed exploratory data analysis and KPI calculations.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Generated actionable business insights.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• Developed an interactive Streamlit dashboard for business decision-making.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239000" y="4000500"/>
            <a:ext cx="3810000" cy="0"/>
          </a:xfrm>
          <a:prstGeom prst="line">
            <a:avLst/>
          </a:prstGeom>
          <a:ln cap="flat" w="9525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6286500" y="4295765"/>
            <a:ext cx="5715000" cy="8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45"/>
              </a:lnSpc>
              <a:spcBef>
                <a:spcPct val="0"/>
              </a:spcBef>
            </a:pPr>
            <a:r>
              <a:rPr lang="en-US" sz="4389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Thank You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86500" y="5162550"/>
            <a:ext cx="5715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E3A8A"/>
                </a:solidFill>
                <a:latin typeface="Telegraf"/>
                <a:ea typeface="Telegraf"/>
                <a:cs typeface="Telegraf"/>
                <a:sym typeface="Telegraf"/>
              </a:rPr>
              <a:t>Questions &amp; Answers</a:t>
            </a:r>
          </a:p>
        </p:txBody>
      </p:sp>
      <p:sp>
        <p:nvSpPr>
          <p:cNvPr name="AutoShape 16" id="16"/>
          <p:cNvSpPr/>
          <p:nvPr/>
        </p:nvSpPr>
        <p:spPr>
          <a:xfrm>
            <a:off x="7239000" y="5905500"/>
            <a:ext cx="3810000" cy="0"/>
          </a:xfrm>
          <a:prstGeom prst="line">
            <a:avLst/>
          </a:prstGeom>
          <a:ln cap="flat" w="9525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6762750" y="6286500"/>
            <a:ext cx="4762500" cy="1714500"/>
            <a:chOff x="0" y="0"/>
            <a:chExt cx="6350000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350000">
                  <a:moveTo>
                    <a:pt x="228600" y="0"/>
                  </a:moveTo>
                  <a:lnTo>
                    <a:pt x="6121400" y="0"/>
                  </a:lnTo>
                  <a:cubicBezTo>
                    <a:pt x="6247652" y="0"/>
                    <a:pt x="6350000" y="102348"/>
                    <a:pt x="6350000" y="228600"/>
                  </a:cubicBezTo>
                  <a:lnTo>
                    <a:pt x="6350000" y="2057400"/>
                  </a:lnTo>
                  <a:cubicBezTo>
                    <a:pt x="6350000" y="2183652"/>
                    <a:pt x="6247652" y="2286000"/>
                    <a:pt x="6121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350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239000" y="6515100"/>
            <a:ext cx="38100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Presented By: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39000" y="6753225"/>
            <a:ext cx="3810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Nihal Muhammed V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39000" y="7277100"/>
            <a:ext cx="38100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374151"/>
                </a:solidFill>
                <a:latin typeface="Telegraf"/>
                <a:ea typeface="Telegraf"/>
                <a:cs typeface="Telegraf"/>
                <a:sym typeface="Telegraf"/>
              </a:rPr>
              <a:t>Role: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39000" y="7543800"/>
            <a:ext cx="381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1E3A8A"/>
                </a:solidFill>
                <a:latin typeface="DIN Next"/>
                <a:ea typeface="DIN Next"/>
                <a:cs typeface="DIN Next"/>
                <a:sym typeface="DIN Next"/>
              </a:rPr>
              <a:t>Junior Data Analyst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DAHNeGPqUrI</dc:identifier>
  <dcterms:modified xsi:type="dcterms:W3CDTF">2011-08-01T06:04:30Z</dcterms:modified>
  <cp:revision>1</cp:revision>
  <dc:title>Retail Sales Analytics Internship Title Slide</dc:title>
</cp:coreProperties>
</file>